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sldIdLst>
    <p:sldId id="256" r:id="rId2"/>
    <p:sldId id="257" r:id="rId3"/>
    <p:sldId id="258" r:id="rId4"/>
    <p:sldId id="272" r:id="rId5"/>
    <p:sldId id="274" r:id="rId6"/>
    <p:sldId id="273" r:id="rId7"/>
    <p:sldId id="259" r:id="rId8"/>
    <p:sldId id="276" r:id="rId9"/>
    <p:sldId id="275" r:id="rId10"/>
    <p:sldId id="260" r:id="rId11"/>
    <p:sldId id="268" r:id="rId12"/>
    <p:sldId id="269" r:id="rId13"/>
    <p:sldId id="270" r:id="rId14"/>
  </p:sldIdLst>
  <p:sldSz cx="18288000" cy="10287000"/>
  <p:notesSz cx="6858000" cy="9144000"/>
  <p:embeddedFontLst>
    <p:embeddedFont>
      <p:font typeface="Corbel" panose="020B0503020204020204" pitchFamily="34" charset="0"/>
      <p:regular r:id="rId15"/>
      <p:bold r:id="rId16"/>
      <p:italic r:id="rId17"/>
      <p:boldItalic r:id="rId18"/>
    </p:embeddedFont>
    <p:embeddedFont>
      <p:font typeface="League Spartan" panose="020B0604020202020204" charset="0"/>
      <p:regular r:id="rId19"/>
    </p:embeddedFont>
    <p:embeddedFont>
      <p:font typeface="Poppins" panose="020B0502040204020203" pitchFamily="2" charset="0"/>
      <p:regular r:id="rId20"/>
      <p:bold r:id="rId21"/>
    </p:embeddedFont>
    <p:embeddedFont>
      <p:font typeface="Roboto" panose="02000000000000000000" pitchFamily="2" charset="0"/>
      <p:regular r:id="rId22"/>
      <p:bold r:id="rId23"/>
    </p:embeddedFont>
    <p:embeddedFont>
      <p:font typeface="Wingdings 2" panose="05020102010507070707" pitchFamily="18" charset="2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 autoAdjust="0"/>
    <p:restoredTop sz="94622" autoAdjust="0"/>
  </p:normalViewPr>
  <p:slideViewPr>
    <p:cSldViewPr>
      <p:cViewPr varScale="1">
        <p:scale>
          <a:sx n="56" d="100"/>
          <a:sy n="56" d="100"/>
        </p:scale>
        <p:origin x="610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8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1142999"/>
            <a:ext cx="13712429" cy="80010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905395" y="1142999"/>
            <a:ext cx="4387977" cy="800100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772" y="1947672"/>
            <a:ext cx="10972800" cy="4882896"/>
          </a:xfrm>
        </p:spPr>
        <p:txBody>
          <a:bodyPr anchor="b">
            <a:normAutofit/>
          </a:bodyPr>
          <a:lstStyle>
            <a:lvl1pPr algn="l">
              <a:defRPr sz="8850" spc="-15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50023" y="7005369"/>
            <a:ext cx="10972800" cy="1371600"/>
          </a:xfrm>
        </p:spPr>
        <p:txBody>
          <a:bodyPr anchor="t">
            <a:normAutofit/>
          </a:bodyPr>
          <a:lstStyle>
            <a:lvl1pPr marL="0" indent="0" algn="l">
              <a:buNone/>
              <a:defRPr sz="33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685800" indent="0" algn="ctr">
              <a:buNone/>
              <a:defRPr sz="3300"/>
            </a:lvl2pPr>
            <a:lvl3pPr marL="1371600" indent="0" algn="ctr">
              <a:buNone/>
              <a:defRPr sz="3300"/>
            </a:lvl3pPr>
            <a:lvl4pPr marL="2057400" indent="0" algn="ctr">
              <a:buNone/>
              <a:defRPr sz="3000"/>
            </a:lvl4pPr>
            <a:lvl5pPr marL="2743200" indent="0" algn="ctr">
              <a:buNone/>
              <a:defRPr sz="3000"/>
            </a:lvl5pPr>
            <a:lvl6pPr marL="3429000" indent="0" algn="ctr">
              <a:buNone/>
              <a:defRPr sz="3000"/>
            </a:lvl6pPr>
            <a:lvl7pPr marL="4114800" indent="0" algn="ctr">
              <a:buNone/>
              <a:defRPr sz="3000"/>
            </a:lvl7pPr>
            <a:lvl8pPr marL="4800600" indent="0" algn="ctr">
              <a:buNone/>
              <a:defRPr sz="3000"/>
            </a:lvl8pPr>
            <a:lvl9pPr marL="5486400" indent="0" algn="ctr">
              <a:buNone/>
              <a:defRPr sz="3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11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079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1868" y="1947672"/>
            <a:ext cx="10972800" cy="4882896"/>
          </a:xfrm>
        </p:spPr>
        <p:txBody>
          <a:bodyPr anchor="b">
            <a:normAutofit/>
          </a:bodyPr>
          <a:lstStyle>
            <a:lvl1pPr>
              <a:defRPr sz="8850" b="0" spc="-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29300" y="7008876"/>
            <a:ext cx="10972800" cy="1371600"/>
          </a:xfrm>
        </p:spPr>
        <p:txBody>
          <a:bodyPr anchor="t">
            <a:normAutofit/>
          </a:bodyPr>
          <a:lstStyle>
            <a:lvl1pPr marL="0" indent="0">
              <a:buNone/>
              <a:defRPr sz="33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93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01868" y="1303020"/>
            <a:ext cx="5212080" cy="76809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27180" y="1303020"/>
            <a:ext cx="5212080" cy="76809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596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1868" y="1535379"/>
            <a:ext cx="5212080" cy="121158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1868" y="2896404"/>
            <a:ext cx="5212080" cy="603504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727695" y="1535380"/>
            <a:ext cx="5212080" cy="1219757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3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727695" y="2896404"/>
            <a:ext cx="5212080" cy="603504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4185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38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48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714500"/>
            <a:ext cx="4251960" cy="3566160"/>
          </a:xfrm>
        </p:spPr>
        <p:txBody>
          <a:bodyPr anchor="b">
            <a:normAutofit/>
          </a:bodyPr>
          <a:lstStyle>
            <a:lvl1pPr>
              <a:defRPr sz="48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01868" y="1303020"/>
            <a:ext cx="10972800" cy="7680960"/>
          </a:xfrm>
        </p:spPr>
        <p:txBody>
          <a:bodyPr/>
          <a:lstStyle>
            <a:lvl1pPr>
              <a:defRPr sz="3000"/>
            </a:lvl1pPr>
            <a:lvl2pPr>
              <a:defRPr sz="2700"/>
            </a:lvl2pPr>
            <a:lvl3pPr>
              <a:defRPr sz="24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048" y="5241264"/>
            <a:ext cx="4251960" cy="3482985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167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48" y="1714500"/>
            <a:ext cx="4251960" cy="3566160"/>
          </a:xfrm>
        </p:spPr>
        <p:txBody>
          <a:bodyPr anchor="b">
            <a:normAutofit/>
          </a:bodyPr>
          <a:lstStyle>
            <a:lvl1pPr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355966" y="1151129"/>
            <a:ext cx="12172845" cy="7996428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84048" y="5239512"/>
            <a:ext cx="4251960" cy="3483864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2100">
                <a:solidFill>
                  <a:srgbClr val="FFFFFF"/>
                </a:solidFill>
              </a:defRPr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5248652" y="9534526"/>
            <a:ext cx="8867276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32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83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71500" y="1485900"/>
            <a:ext cx="4229100" cy="74295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801868" y="1303020"/>
            <a:ext cx="10972800" cy="768096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6669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" y="1138428"/>
            <a:ext cx="5165385" cy="79964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9379" y="1685756"/>
            <a:ext cx="4421223" cy="69017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7723796" y="1138428"/>
            <a:ext cx="576072" cy="799642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03902" y="1296162"/>
            <a:ext cx="10972800" cy="76809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3698" y="9534526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03903" y="9534526"/>
            <a:ext cx="8867276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5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951203" y="9534526"/>
            <a:ext cx="2296391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 b="1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221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 spc="-9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371600" rtl="0" eaLnBrk="1" latinLnBrk="0" hangingPunct="1">
        <a:lnSpc>
          <a:spcPct val="90000"/>
        </a:lnSpc>
        <a:spcBef>
          <a:spcPts val="1800"/>
        </a:spcBef>
        <a:buClr>
          <a:schemeClr val="accent1"/>
        </a:buClr>
        <a:buFont typeface="Wingdings 2" pitchFamily="18" charset="2"/>
        <a:buChar char=""/>
        <a:defRPr sz="3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1028700" indent="-27432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7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714500" indent="-27432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2400300" indent="-27432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3086100" indent="-27432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375"/>
        </a:spcBef>
        <a:spcAft>
          <a:spcPts val="375"/>
        </a:spcAft>
        <a:buClr>
          <a:schemeClr val="accent1"/>
        </a:buClr>
        <a:buFont typeface="Wingdings 2" pitchFamily="18" charset="2"/>
        <a:buChar char="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52400" y="21771"/>
            <a:ext cx="18592800" cy="107061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sz="5400" b="1" dirty="0"/>
          </a:p>
          <a:p>
            <a:pPr algn="ctr"/>
            <a:endParaRPr lang="en-US" sz="5400" b="1" dirty="0"/>
          </a:p>
          <a:p>
            <a:pPr algn="ctr"/>
            <a:endParaRPr lang="en-US" sz="5400" b="1" dirty="0"/>
          </a:p>
          <a:p>
            <a:pPr algn="ctr"/>
            <a:endParaRPr lang="en-US" sz="5400" b="1" dirty="0"/>
          </a:p>
          <a:p>
            <a:pPr algn="ctr"/>
            <a:endParaRPr lang="en-US" sz="5400" b="1" dirty="0"/>
          </a:p>
          <a:p>
            <a:pPr algn="ctr"/>
            <a:r>
              <a:rPr lang="en-US" sz="6000" b="1" dirty="0"/>
              <a:t>Student Grade Management System</a:t>
            </a:r>
            <a:endParaRPr lang="ar-JO" sz="6000" b="1" dirty="0"/>
          </a:p>
        </p:txBody>
      </p:sp>
      <p:grpSp>
        <p:nvGrpSpPr>
          <p:cNvPr id="3" name="Group 3"/>
          <p:cNvGrpSpPr/>
          <p:nvPr/>
        </p:nvGrpSpPr>
        <p:grpSpPr>
          <a:xfrm>
            <a:off x="-189689" y="384810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5391589" y="3807871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864" y="16056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grpSp>
        <p:nvGrpSpPr>
          <p:cNvPr id="3" name="Group 3"/>
          <p:cNvGrpSpPr/>
          <p:nvPr/>
        </p:nvGrpSpPr>
        <p:grpSpPr>
          <a:xfrm>
            <a:off x="0" y="354843"/>
            <a:ext cx="7010400" cy="10467826"/>
            <a:chOff x="0" y="-47625"/>
            <a:chExt cx="2568077" cy="2756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568077" cy="2709333"/>
            </a:xfrm>
            <a:custGeom>
              <a:avLst/>
              <a:gdLst/>
              <a:ahLst/>
              <a:cxnLst/>
              <a:rect l="l" t="t" r="r" b="b"/>
              <a:pathLst>
                <a:path w="2568077" h="2709333">
                  <a:moveTo>
                    <a:pt x="0" y="0"/>
                  </a:moveTo>
                  <a:lnTo>
                    <a:pt x="2568077" y="0"/>
                  </a:lnTo>
                  <a:lnTo>
                    <a:pt x="256807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568077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5867400" y="8479698"/>
            <a:ext cx="897167" cy="2183545"/>
            <a:chOff x="0" y="0"/>
            <a:chExt cx="236291" cy="57509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36291" cy="575090"/>
            </a:xfrm>
            <a:custGeom>
              <a:avLst/>
              <a:gdLst/>
              <a:ahLst/>
              <a:cxnLst/>
              <a:rect l="l" t="t" r="r" b="b"/>
              <a:pathLst>
                <a:path w="236291" h="575090">
                  <a:moveTo>
                    <a:pt x="118145" y="0"/>
                  </a:moveTo>
                  <a:lnTo>
                    <a:pt x="118145" y="0"/>
                  </a:lnTo>
                  <a:cubicBezTo>
                    <a:pt x="183395" y="0"/>
                    <a:pt x="236291" y="52895"/>
                    <a:pt x="236291" y="118145"/>
                  </a:cubicBezTo>
                  <a:lnTo>
                    <a:pt x="236291" y="456945"/>
                  </a:lnTo>
                  <a:cubicBezTo>
                    <a:pt x="236291" y="488279"/>
                    <a:pt x="223843" y="518330"/>
                    <a:pt x="201687" y="540486"/>
                  </a:cubicBezTo>
                  <a:cubicBezTo>
                    <a:pt x="179530" y="562643"/>
                    <a:pt x="149480" y="575090"/>
                    <a:pt x="118145" y="575090"/>
                  </a:cubicBezTo>
                  <a:lnTo>
                    <a:pt x="118145" y="575090"/>
                  </a:lnTo>
                  <a:cubicBezTo>
                    <a:pt x="86811" y="575090"/>
                    <a:pt x="56761" y="562643"/>
                    <a:pt x="34604" y="540486"/>
                  </a:cubicBezTo>
                  <a:cubicBezTo>
                    <a:pt x="12447" y="518330"/>
                    <a:pt x="0" y="488279"/>
                    <a:pt x="0" y="456945"/>
                  </a:cubicBezTo>
                  <a:lnTo>
                    <a:pt x="0" y="118145"/>
                  </a:lnTo>
                  <a:cubicBezTo>
                    <a:pt x="0" y="86811"/>
                    <a:pt x="12447" y="56761"/>
                    <a:pt x="34604" y="34604"/>
                  </a:cubicBezTo>
                  <a:cubicBezTo>
                    <a:pt x="56761" y="12447"/>
                    <a:pt x="86811" y="0"/>
                    <a:pt x="118145" y="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36291" cy="6227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عنوان 10">
            <a:extLst>
              <a:ext uri="{FF2B5EF4-FFF2-40B4-BE49-F238E27FC236}">
                <a16:creationId xmlns:a16="http://schemas.microsoft.com/office/drawing/2014/main" id="{D12CE53F-A3C1-4740-F6E2-A668FFB142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952500"/>
            <a:ext cx="6324600" cy="8991599"/>
          </a:xfrm>
        </p:spPr>
        <p:txBody>
          <a:bodyPr>
            <a:normAutofit/>
          </a:bodyPr>
          <a:lstStyle/>
          <a:p>
            <a:r>
              <a:rPr lang="en-US" sz="8800" b="1" dirty="0">
                <a:solidFill>
                  <a:schemeClr val="bg1"/>
                </a:solidFill>
              </a:rPr>
              <a:t>Introduction and Background</a:t>
            </a:r>
            <a:br>
              <a:rPr lang="en-US" dirty="0"/>
            </a:br>
            <a:endParaRPr lang="ar-JO" dirty="0"/>
          </a:p>
        </p:txBody>
      </p:sp>
      <p:sp>
        <p:nvSpPr>
          <p:cNvPr id="12" name="عنوان فرعي 11">
            <a:extLst>
              <a:ext uri="{FF2B5EF4-FFF2-40B4-BE49-F238E27FC236}">
                <a16:creationId xmlns:a16="http://schemas.microsoft.com/office/drawing/2014/main" id="{5A27AFA9-7A1E-17AC-8DB3-1CFDD8E74E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91336" y="723900"/>
            <a:ext cx="9910864" cy="8915400"/>
          </a:xfrm>
        </p:spPr>
        <p:txBody>
          <a:bodyPr/>
          <a:lstStyle/>
          <a:p>
            <a:pPr algn="l"/>
            <a:r>
              <a:rPr lang="en-US" sz="6000" dirty="0">
                <a:solidFill>
                  <a:schemeClr val="tx2"/>
                </a:solidFill>
              </a:rPr>
              <a:t>Problem</a:t>
            </a:r>
            <a:r>
              <a:rPr lang="en-US" sz="6000" dirty="0">
                <a:solidFill>
                  <a:schemeClr val="tx1"/>
                </a:solidFill>
              </a:rPr>
              <a:t>: Manual grade management is slow and error-prone</a:t>
            </a:r>
          </a:p>
          <a:p>
            <a:pPr algn="l"/>
            <a:r>
              <a:rPr lang="en-US" sz="6000" dirty="0">
                <a:solidFill>
                  <a:schemeClr val="tx2"/>
                </a:solidFill>
              </a:rPr>
              <a:t>Need</a:t>
            </a:r>
            <a:r>
              <a:rPr lang="en-US" sz="6000" dirty="0">
                <a:solidFill>
                  <a:schemeClr val="tx1"/>
                </a:solidFill>
              </a:rPr>
              <a:t>: Efficient automated system</a:t>
            </a:r>
          </a:p>
          <a:p>
            <a:pPr algn="l"/>
            <a:r>
              <a:rPr lang="en-US" sz="6000" dirty="0">
                <a:solidFill>
                  <a:schemeClr val="tx2"/>
                </a:solidFill>
              </a:rPr>
              <a:t>Solution</a:t>
            </a:r>
            <a:r>
              <a:rPr lang="en-US" sz="6000" dirty="0">
                <a:solidFill>
                  <a:schemeClr val="tx1"/>
                </a:solidFill>
              </a:rPr>
              <a:t>: Python-based grade management system</a:t>
            </a:r>
          </a:p>
          <a:p>
            <a:pPr algn="l"/>
            <a:endParaRPr lang="ar-JO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8303" y="-158939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pPr algn="ctr"/>
            <a:endParaRPr lang="en-US" dirty="0"/>
          </a:p>
        </p:txBody>
      </p:sp>
      <p:grpSp>
        <p:nvGrpSpPr>
          <p:cNvPr id="3" name="Group 3"/>
          <p:cNvGrpSpPr/>
          <p:nvPr/>
        </p:nvGrpSpPr>
        <p:grpSpPr>
          <a:xfrm>
            <a:off x="10348575" y="0"/>
            <a:ext cx="7939426" cy="10287000"/>
            <a:chOff x="0" y="0"/>
            <a:chExt cx="1680318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680318" cy="2709333"/>
            </a:xfrm>
            <a:custGeom>
              <a:avLst/>
              <a:gdLst/>
              <a:ahLst/>
              <a:cxnLst/>
              <a:rect l="l" t="t" r="r" b="b"/>
              <a:pathLst>
                <a:path w="1680318" h="2709333">
                  <a:moveTo>
                    <a:pt x="0" y="0"/>
                  </a:moveTo>
                  <a:lnTo>
                    <a:pt x="1680318" y="0"/>
                  </a:lnTo>
                  <a:lnTo>
                    <a:pt x="168031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680318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812554" y="1635327"/>
            <a:ext cx="1868266" cy="1868266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ar-JO" dirty="0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-703963" y="3171040"/>
            <a:ext cx="1868266" cy="1868266"/>
            <a:chOff x="0" y="0"/>
            <a:chExt cx="81280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5E5E5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10668000" y="1606752"/>
            <a:ext cx="7498421" cy="1677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72"/>
              </a:lnSpc>
            </a:pPr>
            <a:r>
              <a:rPr lang="en-AE" sz="7200" dirty="0">
                <a:solidFill>
                  <a:schemeClr val="bg1"/>
                </a:solidFill>
              </a:rPr>
              <a:t>Design &amp; Implementation</a:t>
            </a:r>
            <a:endParaRPr lang="en-US" sz="7200" dirty="0">
              <a:solidFill>
                <a:schemeClr val="bg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" name="TextBox 28"/>
          <p:cNvSpPr txBox="1"/>
          <p:nvPr/>
        </p:nvSpPr>
        <p:spPr>
          <a:xfrm>
            <a:off x="806542" y="834789"/>
            <a:ext cx="8735490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7200" b="1" dirty="0"/>
              <a:t>Algorithms Used:</a:t>
            </a:r>
          </a:p>
          <a:p>
            <a:r>
              <a:rPr lang="en-US" sz="7200" b="1" dirty="0"/>
              <a:t>- Merge Sort</a:t>
            </a:r>
          </a:p>
          <a:p>
            <a:r>
              <a:rPr lang="en-US" sz="7200" b="1" dirty="0"/>
              <a:t>- Binary Search</a:t>
            </a:r>
          </a:p>
        </p:txBody>
      </p:sp>
      <p:sp>
        <p:nvSpPr>
          <p:cNvPr id="30" name="مربع نص 29">
            <a:extLst>
              <a:ext uri="{FF2B5EF4-FFF2-40B4-BE49-F238E27FC236}">
                <a16:creationId xmlns:a16="http://schemas.microsoft.com/office/drawing/2014/main" id="{656005F3-F7E8-EE87-E8D4-D3E222A86467}"/>
              </a:ext>
            </a:extLst>
          </p:cNvPr>
          <p:cNvSpPr txBox="1"/>
          <p:nvPr/>
        </p:nvSpPr>
        <p:spPr>
          <a:xfrm>
            <a:off x="-5572485" y="1660909"/>
            <a:ext cx="11896926" cy="1334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48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32" name="مربع نص 31">
            <a:extLst>
              <a:ext uri="{FF2B5EF4-FFF2-40B4-BE49-F238E27FC236}">
                <a16:creationId xmlns:a16="http://schemas.microsoft.com/office/drawing/2014/main" id="{E8A51FB1-587D-4890-F902-F22EBE81C399}"/>
              </a:ext>
            </a:extLst>
          </p:cNvPr>
          <p:cNvSpPr txBox="1"/>
          <p:nvPr/>
        </p:nvSpPr>
        <p:spPr>
          <a:xfrm>
            <a:off x="-6759292" y="3061571"/>
            <a:ext cx="14202382" cy="1304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1002"/>
              </a:lnSpc>
            </a:pPr>
            <a:r>
              <a:rPr lang="en-US" sz="40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34" name="مربع نص 33">
            <a:extLst>
              <a:ext uri="{FF2B5EF4-FFF2-40B4-BE49-F238E27FC236}">
                <a16:creationId xmlns:a16="http://schemas.microsoft.com/office/drawing/2014/main" id="{A1F216FB-6545-186D-D06E-BD451FDD6E2E}"/>
              </a:ext>
            </a:extLst>
          </p:cNvPr>
          <p:cNvSpPr txBox="1"/>
          <p:nvPr/>
        </p:nvSpPr>
        <p:spPr>
          <a:xfrm>
            <a:off x="800966" y="4120061"/>
            <a:ext cx="954760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pPr algn="ctr"/>
            <a:endParaRPr lang="en-US" dirty="0"/>
          </a:p>
          <a:p>
            <a:r>
              <a:rPr lang="en-US" sz="6000" b="1" dirty="0"/>
              <a:t>Features:</a:t>
            </a:r>
          </a:p>
          <a:p>
            <a:r>
              <a:rPr lang="en-US" sz="6000" dirty="0"/>
              <a:t>- </a:t>
            </a:r>
            <a:r>
              <a:rPr lang="en-US" sz="6000" b="1" dirty="0"/>
              <a:t>Data entry loop</a:t>
            </a:r>
          </a:p>
          <a:p>
            <a:r>
              <a:rPr lang="en-US" sz="6000" b="1" dirty="0"/>
              <a:t>- Case-insensitive search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C7165-A8A1-5CA8-DCEE-352E9E249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823258"/>
            <a:ext cx="8229600" cy="1143000"/>
          </a:xfrm>
        </p:spPr>
        <p:txBody>
          <a:bodyPr>
            <a:noAutofit/>
          </a:bodyPr>
          <a:lstStyle/>
          <a:p>
            <a:r>
              <a:rPr lang="en-US" sz="7200" b="1" dirty="0"/>
              <a:t>Workflow:</a:t>
            </a:r>
            <a:br>
              <a:rPr lang="en-US" sz="7200" dirty="0"/>
            </a:br>
            <a:endParaRPr lang="en-US" sz="7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BBC9CE-EEE9-FE82-7E61-5A2604B3B7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5400" y="1823258"/>
            <a:ext cx="12534900" cy="6901642"/>
          </a:xfrm>
        </p:spPr>
        <p:txBody>
          <a:bodyPr>
            <a:normAutofit/>
          </a:bodyPr>
          <a:lstStyle/>
          <a:p>
            <a:pPr lvl="1"/>
            <a:r>
              <a:rPr lang="en-US" sz="4000" b="1" dirty="0">
                <a:solidFill>
                  <a:schemeClr val="tx1"/>
                </a:solidFill>
              </a:rPr>
              <a:t>Data Entry: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/>
              <a:t>A dynamic loop collects student names and grades until the user inputs 'stop'.</a:t>
            </a:r>
          </a:p>
          <a:p>
            <a:pPr lvl="1"/>
            <a:r>
              <a:rPr lang="en-US" sz="4000" b="1" dirty="0">
                <a:solidFill>
                  <a:schemeClr val="tx1"/>
                </a:solidFill>
              </a:rPr>
              <a:t>Structural Organization: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/>
              <a:t>The list is sorted using the "Divide and Conquer" strategy of Merge Sort.</a:t>
            </a:r>
          </a:p>
          <a:p>
            <a:pPr lvl="1"/>
            <a:r>
              <a:rPr lang="en-US" sz="4000" b="1" dirty="0">
                <a:solidFill>
                  <a:schemeClr val="tx1"/>
                </a:solidFill>
              </a:rPr>
              <a:t>Search Mechanism:</a:t>
            </a:r>
            <a:r>
              <a:rPr lang="en-US" sz="4000" dirty="0">
                <a:solidFill>
                  <a:schemeClr val="tx1"/>
                </a:solidFill>
              </a:rPr>
              <a:t> </a:t>
            </a:r>
            <a:r>
              <a:rPr lang="en-US" sz="4000" dirty="0"/>
              <a:t>The system sorts names alphabetically first to allow Binary Search to function correctly.</a:t>
            </a:r>
          </a:p>
          <a:p>
            <a:pPr lvl="1"/>
            <a:r>
              <a:rPr lang="en-US" sz="4000" b="1" dirty="0">
                <a:solidFill>
                  <a:schemeClr val="tx1"/>
                </a:solidFill>
              </a:rPr>
              <a:t> Challenges:</a:t>
            </a:r>
            <a:r>
              <a:rPr lang="en-US" sz="4000" dirty="0"/>
              <a:t> Handling non-uniform text input. We resolved this by using the .lower() function to make the search case-insensitive.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9081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 source code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46637" y="1749746"/>
            <a:ext cx="6087325" cy="677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3171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source code</a:t>
            </a:r>
            <a:br>
              <a:rPr lang="en-US" b="1" dirty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34000" y="1181100"/>
            <a:ext cx="6592220" cy="760201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34800" y="1168400"/>
            <a:ext cx="5284827" cy="7582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345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349" y="12513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grpSp>
        <p:nvGrpSpPr>
          <p:cNvPr id="3" name="Group 3"/>
          <p:cNvGrpSpPr/>
          <p:nvPr/>
        </p:nvGrpSpPr>
        <p:grpSpPr>
          <a:xfrm>
            <a:off x="-42153" y="3305274"/>
            <a:ext cx="18829912" cy="2517382"/>
            <a:chOff x="-7259" y="-47625"/>
            <a:chExt cx="4959318" cy="663014"/>
          </a:xfrm>
        </p:grpSpPr>
        <p:sp>
          <p:nvSpPr>
            <p:cNvPr id="4" name="Freeform 4"/>
            <p:cNvSpPr/>
            <p:nvPr/>
          </p:nvSpPr>
          <p:spPr>
            <a:xfrm>
              <a:off x="-7259" y="86902"/>
              <a:ext cx="4827694" cy="528487"/>
            </a:xfrm>
            <a:custGeom>
              <a:avLst/>
              <a:gdLst/>
              <a:ahLst/>
              <a:cxnLst/>
              <a:rect l="l" t="t" r="r" b="b"/>
              <a:pathLst>
                <a:path w="4952059" h="528487">
                  <a:moveTo>
                    <a:pt x="20999" y="0"/>
                  </a:moveTo>
                  <a:lnTo>
                    <a:pt x="4931060" y="0"/>
                  </a:lnTo>
                  <a:cubicBezTo>
                    <a:pt x="4936629" y="0"/>
                    <a:pt x="4941970" y="2212"/>
                    <a:pt x="4945909" y="6151"/>
                  </a:cubicBezTo>
                  <a:cubicBezTo>
                    <a:pt x="4949847" y="10089"/>
                    <a:pt x="4952059" y="15430"/>
                    <a:pt x="4952059" y="20999"/>
                  </a:cubicBezTo>
                  <a:lnTo>
                    <a:pt x="4952059" y="507488"/>
                  </a:lnTo>
                  <a:cubicBezTo>
                    <a:pt x="4952059" y="519086"/>
                    <a:pt x="4942658" y="528487"/>
                    <a:pt x="4931060" y="528487"/>
                  </a:cubicBezTo>
                  <a:lnTo>
                    <a:pt x="20999" y="528487"/>
                  </a:lnTo>
                  <a:cubicBezTo>
                    <a:pt x="15430" y="528487"/>
                    <a:pt x="10089" y="526275"/>
                    <a:pt x="6151" y="522337"/>
                  </a:cubicBezTo>
                  <a:cubicBezTo>
                    <a:pt x="2212" y="518399"/>
                    <a:pt x="0" y="513057"/>
                    <a:pt x="0" y="507488"/>
                  </a:cubicBezTo>
                  <a:lnTo>
                    <a:pt x="0" y="20999"/>
                  </a:lnTo>
                  <a:cubicBezTo>
                    <a:pt x="0" y="15430"/>
                    <a:pt x="2212" y="10089"/>
                    <a:pt x="6151" y="6151"/>
                  </a:cubicBezTo>
                  <a:cubicBezTo>
                    <a:pt x="10089" y="2212"/>
                    <a:pt x="15430" y="0"/>
                    <a:pt x="20999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r>
                <a:rPr lang="en-US" sz="9600" dirty="0">
                  <a:solidFill>
                    <a:schemeClr val="bg1"/>
                  </a:solidFill>
                </a:rPr>
                <a:t>      1              2                 3               4       </a:t>
              </a:r>
              <a:endParaRPr lang="ar-JO" sz="9600" dirty="0">
                <a:solidFill>
                  <a:schemeClr val="bg1"/>
                </a:solidFill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952059" cy="57611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5071087" y="2794493"/>
            <a:ext cx="8145827" cy="5107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AE" sz="6000" b="1" dirty="0"/>
              <a:t>Optimization Strategies</a:t>
            </a:r>
            <a:endParaRPr lang="en-US" sz="6000" b="1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38201" y="4435383"/>
            <a:ext cx="1828799" cy="978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endParaRPr lang="en-US" sz="5672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-762000" y="4152900"/>
            <a:ext cx="19049999" cy="9780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endParaRPr lang="en-US" sz="5672" b="1" dirty="0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533400" y="6333438"/>
            <a:ext cx="2971800" cy="122084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AE" sz="3600" b="1" dirty="0"/>
              <a:t>Removed redundant code</a:t>
            </a:r>
            <a:endParaRPr lang="en-US" sz="3600" b="1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4724401" y="6187449"/>
            <a:ext cx="2971800" cy="1235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AE" sz="4000" b="1" dirty="0"/>
              <a:t> </a:t>
            </a:r>
          </a:p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AE" sz="4000" b="1" dirty="0"/>
              <a:t>Generalized merge sort</a:t>
            </a:r>
            <a:endParaRPr lang="en-US" sz="4000" b="1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8218252" y="6561487"/>
            <a:ext cx="5726348" cy="4399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107"/>
              </a:lnSpc>
              <a:spcBef>
                <a:spcPct val="0"/>
              </a:spcBef>
            </a:pPr>
            <a:r>
              <a:rPr lang="en-AE" sz="4000" b="1" dirty="0"/>
              <a:t>Improved usability</a:t>
            </a:r>
            <a:endParaRPr lang="en-US" sz="4000" b="1" dirty="0">
              <a:solidFill>
                <a:srgbClr val="303642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5" name="مربع نص 14">
            <a:extLst>
              <a:ext uri="{FF2B5EF4-FFF2-40B4-BE49-F238E27FC236}">
                <a16:creationId xmlns:a16="http://schemas.microsoft.com/office/drawing/2014/main" id="{7385C280-5EE6-8B6A-5819-90F5DCF3B31D}"/>
              </a:ext>
            </a:extLst>
          </p:cNvPr>
          <p:cNvSpPr txBox="1"/>
          <p:nvPr/>
        </p:nvSpPr>
        <p:spPr>
          <a:xfrm rot="10800000" flipH="1" flipV="1">
            <a:off x="14466651" y="6145880"/>
            <a:ext cx="3592749" cy="193899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pt-BR" sz="4000" b="1" dirty="0"/>
              <a:t>Preserved O(n log n) complexity</a:t>
            </a:r>
            <a:endParaRPr lang="ar-JO" sz="4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  version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0" y="2324100"/>
            <a:ext cx="8011643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49344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optimized   version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86400" y="1283629"/>
            <a:ext cx="4769692" cy="768191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292" y="1295686"/>
            <a:ext cx="5868219" cy="750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835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023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JO" dirty="0"/>
          </a:p>
        </p:txBody>
      </p:sp>
      <p:grpSp>
        <p:nvGrpSpPr>
          <p:cNvPr id="3" name="Group 3"/>
          <p:cNvGrpSpPr/>
          <p:nvPr/>
        </p:nvGrpSpPr>
        <p:grpSpPr>
          <a:xfrm>
            <a:off x="1028700" y="8997950"/>
            <a:ext cx="2514600" cy="260350"/>
            <a:chOff x="0" y="0"/>
            <a:chExt cx="662281" cy="685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62281" cy="68570"/>
            </a:xfrm>
            <a:custGeom>
              <a:avLst/>
              <a:gdLst/>
              <a:ahLst/>
              <a:cxnLst/>
              <a:rect l="l" t="t" r="r" b="b"/>
              <a:pathLst>
                <a:path w="662281" h="68570">
                  <a:moveTo>
                    <a:pt x="0" y="0"/>
                  </a:moveTo>
                  <a:lnTo>
                    <a:pt x="662281" y="0"/>
                  </a:lnTo>
                  <a:lnTo>
                    <a:pt x="662281" y="68570"/>
                  </a:lnTo>
                  <a:lnTo>
                    <a:pt x="0" y="68570"/>
                  </a:ln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662281" cy="11619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028700" y="914400"/>
            <a:ext cx="5372100" cy="10002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9600" b="1" dirty="0">
                <a:solidFill>
                  <a:srgbClr val="0070C0"/>
                </a:solidFill>
                <a:latin typeface="Roboto"/>
                <a:ea typeface="Roboto"/>
                <a:cs typeface="Roboto"/>
                <a:sym typeface="Roboto"/>
              </a:rPr>
              <a:t>RESULTS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28700" y="3671179"/>
            <a:ext cx="5634574" cy="28270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Sorting: O(n log 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Searching: O(log n)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4000" b="1" dirty="0"/>
              <a:t>Improved speed, accuracy, and scalability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TextBox 3"/>
          <p:cNvSpPr txBox="1"/>
          <p:nvPr/>
        </p:nvSpPr>
        <p:spPr>
          <a:xfrm>
            <a:off x="1028700" y="1409700"/>
            <a:ext cx="11087100" cy="101951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7431"/>
              </a:lnSpc>
            </a:pPr>
            <a:r>
              <a:rPr lang="en-AE" sz="8000" b="1" dirty="0">
                <a:solidFill>
                  <a:srgbClr val="0070C0"/>
                </a:solidFill>
              </a:rPr>
              <a:t>Future Work</a:t>
            </a:r>
            <a:endParaRPr lang="en-US" sz="8000" b="1" dirty="0">
              <a:solidFill>
                <a:srgbClr val="0070C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609600" y="2429210"/>
            <a:ext cx="9296400" cy="33194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US" sz="4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b="1" dirty="0"/>
              <a:t>Save to Excel/CSV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b="1" dirty="0"/>
              <a:t>- GUI development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4800" b="1" dirty="0"/>
              <a:t>- Advanced analytics</a:t>
            </a:r>
          </a:p>
          <a:p>
            <a:pPr algn="l">
              <a:lnSpc>
                <a:spcPts val="2976"/>
              </a:lnSpc>
              <a:spcBef>
                <a:spcPct val="0"/>
              </a:spcBef>
            </a:pPr>
            <a:endParaRPr lang="en-US" sz="2125" dirty="0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ar-JO"/>
          </a:p>
        </p:txBody>
      </p:sp>
      <p:sp>
        <p:nvSpPr>
          <p:cNvPr id="3" name="TextBox 3"/>
          <p:cNvSpPr txBox="1"/>
          <p:nvPr/>
        </p:nvSpPr>
        <p:spPr>
          <a:xfrm>
            <a:off x="4638682" y="1791504"/>
            <a:ext cx="9010636" cy="1013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40"/>
              </a:lnSpc>
            </a:pPr>
            <a:r>
              <a:rPr lang="en-AE" sz="6600" b="1" dirty="0">
                <a:solidFill>
                  <a:srgbClr val="0070C0"/>
                </a:solidFill>
              </a:rPr>
              <a:t>Conclusion</a:t>
            </a:r>
            <a:endParaRPr lang="en-US" sz="6600" b="1" dirty="0">
              <a:solidFill>
                <a:srgbClr val="0070C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2971800" y="3771900"/>
            <a:ext cx="12496800" cy="123110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6000" b="1" dirty="0"/>
              <a:t>Fast and reliable grade management</a:t>
            </a:r>
          </a:p>
          <a:p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29183" y="3505996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176385" y="3505996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ar-JO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5111616" y="3733652"/>
            <a:ext cx="8243086" cy="12747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34"/>
              </a:lnSpc>
            </a:pPr>
            <a:r>
              <a:rPr lang="en-US" sz="7382" b="1" dirty="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616824" y="6553348"/>
            <a:ext cx="3054350" cy="942104"/>
          </a:xfrm>
          <a:prstGeom prst="rect">
            <a:avLst/>
          </a:prstGeom>
        </p:spPr>
        <p:txBody>
          <a:bodyPr lIns="50800" tIns="50800" rIns="50800" bIns="50800" rtlCol="0" anchor="ctr"/>
          <a:lstStyle/>
          <a:p>
            <a:pPr algn="ctr">
              <a:lnSpc>
                <a:spcPts val="2659"/>
              </a:lnSpc>
            </a:pPr>
            <a:endParaRPr/>
          </a:p>
        </p:txBody>
      </p:sp>
      <p:sp>
        <p:nvSpPr>
          <p:cNvPr id="13" name="TextBox 13"/>
          <p:cNvSpPr txBox="1"/>
          <p:nvPr/>
        </p:nvSpPr>
        <p:spPr>
          <a:xfrm>
            <a:off x="7347826" y="6846823"/>
            <a:ext cx="3592349" cy="5359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08"/>
              </a:lnSpc>
            </a:pPr>
            <a:r>
              <a:rPr lang="en-US" sz="3148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VISIT US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268070" y="8716674"/>
            <a:ext cx="5610566" cy="5487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41"/>
              </a:lnSpc>
              <a:spcBef>
                <a:spcPct val="0"/>
              </a:spcBef>
            </a:pPr>
            <a:r>
              <a:rPr lang="en-US" sz="3315" u="none" dirty="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219</TotalTime>
  <Words>212</Words>
  <Application>Microsoft Office PowerPoint</Application>
  <PresentationFormat>Custom</PresentationFormat>
  <Paragraphs>54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League Spartan</vt:lpstr>
      <vt:lpstr>Arial</vt:lpstr>
      <vt:lpstr>Poppins</vt:lpstr>
      <vt:lpstr>Roboto</vt:lpstr>
      <vt:lpstr>Corbel</vt:lpstr>
      <vt:lpstr>Wingdings 2</vt:lpstr>
      <vt:lpstr>Frame</vt:lpstr>
      <vt:lpstr>PowerPoint Presentation</vt:lpstr>
      <vt:lpstr>Introduction and Background </vt:lpstr>
      <vt:lpstr>PowerPoint Presentation</vt:lpstr>
      <vt:lpstr>Workflow: </vt:lpstr>
      <vt:lpstr> source code</vt:lpstr>
      <vt:lpstr>source code </vt:lpstr>
      <vt:lpstr>PowerPoint Presentation</vt:lpstr>
      <vt:lpstr>optimized   version</vt:lpstr>
      <vt:lpstr>optimized   version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Number of Addresses in a Block There is only one condition on the number of addresses in a block; it must be a power of 2 (2, 4, 8, . . .). A household may be given a block of 2 addresses. A small business may be given 16 addresses. A large organization</dc:title>
  <dc:creator>C-ROAD</dc:creator>
  <cp:lastModifiedBy>ساره مازن صالح العبداللات</cp:lastModifiedBy>
  <cp:revision>9</cp:revision>
  <dcterms:created xsi:type="dcterms:W3CDTF">2006-08-16T00:00:00Z</dcterms:created>
  <dcterms:modified xsi:type="dcterms:W3CDTF">2026-06-25T20:31:00Z</dcterms:modified>
  <dc:identifier>DAG8t_sf4ng</dc:identifier>
</cp:coreProperties>
</file>